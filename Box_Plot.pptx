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B4C5E53-ABCD-4B11-8DCD-FA2CDE36A124}" type="datetimeFigureOut">
              <a:rPr lang="en-US" smtClean="0"/>
              <a:t>8/4/2018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2088083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4C5E53-ABCD-4B11-8DCD-FA2CDE36A124}" type="datetimeFigureOut">
              <a:rPr lang="en-US" smtClean="0"/>
              <a:t>8/4/2018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1553661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4C5E53-ABCD-4B11-8DCD-FA2CDE36A124}" type="datetimeFigureOut">
              <a:rPr lang="en-US" smtClean="0"/>
              <a:t>8/4/2018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3080193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B4C5E53-ABCD-4B11-8DCD-FA2CDE36A124}" type="datetimeFigureOut">
              <a:rPr lang="en-US" smtClean="0"/>
              <a:t>8/4/2018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107744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4C5E53-ABCD-4B11-8DCD-FA2CDE36A124}" type="datetimeFigureOut">
              <a:rPr lang="en-US" smtClean="0"/>
              <a:t>8/4/2018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1398221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4C5E53-ABCD-4B11-8DCD-FA2CDE36A124}" type="datetimeFigureOut">
              <a:rPr lang="en-US" smtClean="0"/>
              <a:t>8/4/2018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1479815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4C5E53-ABCD-4B11-8DCD-FA2CDE36A124}" type="datetimeFigureOut">
              <a:rPr lang="en-US" smtClean="0"/>
              <a:t>8/4/2018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934926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C5E53-ABCD-4B11-8DCD-FA2CDE36A124}" type="datetimeFigureOut">
              <a:rPr lang="en-US" smtClean="0"/>
              <a:t>8/4/2018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2102579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C5E53-ABCD-4B11-8DCD-FA2CDE36A124}" type="datetimeFigureOut">
              <a:rPr lang="en-US" smtClean="0"/>
              <a:t>8/4/2018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2386586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4C5E53-ABCD-4B11-8DCD-FA2CDE36A124}" type="datetimeFigureOut">
              <a:rPr lang="en-US" smtClean="0"/>
              <a:t>8/4/2018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3438904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4C5E53-ABCD-4B11-8DCD-FA2CDE36A124}" type="datetimeFigureOut">
              <a:rPr lang="en-US" smtClean="0"/>
              <a:t>8/4/2018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D75100-02AE-42F7-871D-F6AB27A0332D}" type="slidenum">
              <a:rPr lang="en-US" smtClean="0"/>
              <a:t>‹#›</a:t>
            </a:fld>
            <a:endParaRPr lang="en-US"/>
          </a:p>
        </p:txBody>
      </p:sp>
    </p:spTree>
    <p:extLst>
      <p:ext uri="{BB962C8B-B14F-4D97-AF65-F5344CB8AC3E}">
        <p14:creationId xmlns:p14="http://schemas.microsoft.com/office/powerpoint/2010/main" val="362809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4C5E53-ABCD-4B11-8DCD-FA2CDE36A124}" type="datetimeFigureOut">
              <a:rPr lang="en-US" smtClean="0"/>
              <a:t>8/4/2018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D75100-02AE-42F7-871D-F6AB27A0332D}" type="slidenum">
              <a:rPr lang="en-US" smtClean="0"/>
              <a:t>‹#›</a:t>
            </a:fld>
            <a:endParaRPr lang="en-US"/>
          </a:p>
        </p:txBody>
      </p:sp>
    </p:spTree>
    <p:extLst>
      <p:ext uri="{BB962C8B-B14F-4D97-AF65-F5344CB8AC3E}">
        <p14:creationId xmlns:p14="http://schemas.microsoft.com/office/powerpoint/2010/main" val="2497712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9362" y="228600"/>
            <a:ext cx="7153275" cy="6400800"/>
          </a:xfrm>
          <a:prstGeom prst="rect">
            <a:avLst/>
          </a:prstGeom>
        </p:spPr>
      </p:pic>
    </p:spTree>
    <p:extLst>
      <p:ext uri="{BB962C8B-B14F-4D97-AF65-F5344CB8AC3E}">
        <p14:creationId xmlns:p14="http://schemas.microsoft.com/office/powerpoint/2010/main" val="81624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Understanding Box Plots</a:t>
            </a:r>
            <a:endParaRPr lang="en-US" dirty="0"/>
          </a:p>
        </p:txBody>
      </p:sp>
      <p:sp>
        <p:nvSpPr>
          <p:cNvPr id="3" name="Rectangle 2"/>
          <p:cNvSpPr/>
          <p:nvPr/>
        </p:nvSpPr>
        <p:spPr>
          <a:xfrm>
            <a:off x="838200" y="1690688"/>
            <a:ext cx="10515600" cy="923330"/>
          </a:xfrm>
          <a:prstGeom prst="rect">
            <a:avLst/>
          </a:prstGeom>
        </p:spPr>
        <p:txBody>
          <a:bodyPr wrap="square">
            <a:spAutoFit/>
          </a:bodyPr>
          <a:lstStyle/>
          <a:p>
            <a:r>
              <a:rPr lang="en-US" b="1" i="0" dirty="0" smtClean="0">
                <a:solidFill>
                  <a:srgbClr val="000000"/>
                </a:solidFill>
                <a:effectLst/>
                <a:latin typeface="Poppins"/>
              </a:rPr>
              <a:t>Median</a:t>
            </a:r>
            <a:r>
              <a:rPr lang="en-US" dirty="0" smtClean="0"/>
              <a:t/>
            </a:r>
            <a:br>
              <a:rPr lang="en-US" dirty="0" smtClean="0"/>
            </a:br>
            <a:r>
              <a:rPr lang="en-US" b="0" i="0" dirty="0" smtClean="0">
                <a:solidFill>
                  <a:srgbClr val="000000"/>
                </a:solidFill>
                <a:effectLst/>
                <a:latin typeface="Poppins"/>
              </a:rPr>
              <a:t>The median (middle quartile) marks the mid-point of the data and is shown by the line that divides the box into two parts. Half the scores are greater than or equal to this value and half are less.</a:t>
            </a:r>
            <a:endParaRPr lang="en-US" dirty="0"/>
          </a:p>
        </p:txBody>
      </p:sp>
      <p:sp>
        <p:nvSpPr>
          <p:cNvPr id="4" name="Rectangle 3"/>
          <p:cNvSpPr/>
          <p:nvPr/>
        </p:nvSpPr>
        <p:spPr>
          <a:xfrm>
            <a:off x="838200" y="2614018"/>
            <a:ext cx="10515600" cy="1200329"/>
          </a:xfrm>
          <a:prstGeom prst="rect">
            <a:avLst/>
          </a:prstGeom>
        </p:spPr>
        <p:txBody>
          <a:bodyPr wrap="square">
            <a:spAutoFit/>
          </a:bodyPr>
          <a:lstStyle/>
          <a:p>
            <a:r>
              <a:rPr lang="en-US" b="1" i="0" smtClean="0">
                <a:solidFill>
                  <a:srgbClr val="000000"/>
                </a:solidFill>
                <a:effectLst/>
                <a:latin typeface="Poppins"/>
              </a:rPr>
              <a:t>Inter-quartile range</a:t>
            </a:r>
            <a:r>
              <a:rPr lang="en-US" smtClean="0"/>
              <a:t/>
            </a:r>
            <a:br>
              <a:rPr lang="en-US" smtClean="0"/>
            </a:br>
            <a:r>
              <a:rPr lang="en-US" b="0" i="0" smtClean="0">
                <a:solidFill>
                  <a:srgbClr val="000000"/>
                </a:solidFill>
                <a:effectLst/>
                <a:latin typeface="Poppins"/>
              </a:rPr>
              <a:t>The middle “box” represents the middle 50% of scores for the group. </a:t>
            </a:r>
            <a:r>
              <a:rPr lang="en-US" b="0" i="0" dirty="0" smtClean="0">
                <a:solidFill>
                  <a:srgbClr val="000000"/>
                </a:solidFill>
                <a:effectLst/>
                <a:latin typeface="Poppins"/>
              </a:rPr>
              <a:t>The range of scores from lower to upper quartile is referred to as the inter-quartile range. The middle 50% of scores fall within the inter-quartile range.</a:t>
            </a:r>
            <a:endParaRPr lang="en-US" dirty="0"/>
          </a:p>
        </p:txBody>
      </p:sp>
      <p:sp>
        <p:nvSpPr>
          <p:cNvPr id="5" name="Rectangle 4"/>
          <p:cNvSpPr/>
          <p:nvPr/>
        </p:nvSpPr>
        <p:spPr>
          <a:xfrm>
            <a:off x="838200" y="3939581"/>
            <a:ext cx="10515600" cy="646331"/>
          </a:xfrm>
          <a:prstGeom prst="rect">
            <a:avLst/>
          </a:prstGeom>
        </p:spPr>
        <p:txBody>
          <a:bodyPr wrap="square">
            <a:spAutoFit/>
          </a:bodyPr>
          <a:lstStyle/>
          <a:p>
            <a:r>
              <a:rPr lang="en-US" b="1" i="0" dirty="0" smtClean="0">
                <a:solidFill>
                  <a:srgbClr val="000000"/>
                </a:solidFill>
                <a:effectLst/>
                <a:latin typeface="Poppins"/>
              </a:rPr>
              <a:t>Upper quartile</a:t>
            </a:r>
            <a:r>
              <a:rPr lang="en-US" dirty="0" smtClean="0"/>
              <a:t/>
            </a:r>
            <a:br>
              <a:rPr lang="en-US" dirty="0" smtClean="0"/>
            </a:br>
            <a:r>
              <a:rPr lang="en-US" b="0" i="0" dirty="0" smtClean="0">
                <a:solidFill>
                  <a:srgbClr val="000000"/>
                </a:solidFill>
                <a:effectLst/>
                <a:latin typeface="Poppins"/>
              </a:rPr>
              <a:t>Seventy-five percent of the scores fall below the upper quartile.</a:t>
            </a:r>
            <a:endParaRPr lang="en-US" dirty="0"/>
          </a:p>
        </p:txBody>
      </p:sp>
      <p:sp>
        <p:nvSpPr>
          <p:cNvPr id="6" name="Rectangle 5"/>
          <p:cNvSpPr/>
          <p:nvPr/>
        </p:nvSpPr>
        <p:spPr>
          <a:xfrm>
            <a:off x="838200" y="4737677"/>
            <a:ext cx="10515601" cy="923330"/>
          </a:xfrm>
          <a:prstGeom prst="rect">
            <a:avLst/>
          </a:prstGeom>
        </p:spPr>
        <p:txBody>
          <a:bodyPr wrap="square">
            <a:spAutoFit/>
          </a:bodyPr>
          <a:lstStyle/>
          <a:p>
            <a:r>
              <a:rPr lang="en-US" b="1" dirty="0"/>
              <a:t>Whiskers</a:t>
            </a:r>
            <a:r>
              <a:rPr lang="en-US" dirty="0" smtClean="0"/>
              <a:t/>
            </a:r>
            <a:br>
              <a:rPr lang="en-US" dirty="0" smtClean="0"/>
            </a:br>
            <a:r>
              <a:rPr lang="en-US" dirty="0"/>
              <a:t>The upper and lower whiskers represent scores outside the middle 50%. Whiskers often (but not always) stretch over a wider range of scores than the middle quartile group</a:t>
            </a:r>
          </a:p>
        </p:txBody>
      </p:sp>
    </p:spTree>
    <p:extLst>
      <p:ext uri="{BB962C8B-B14F-4D97-AF65-F5344CB8AC3E}">
        <p14:creationId xmlns:p14="http://schemas.microsoft.com/office/powerpoint/2010/main" val="1805541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650" y="1257300"/>
            <a:ext cx="7124700" cy="4343400"/>
          </a:xfrm>
          <a:prstGeom prst="rect">
            <a:avLst/>
          </a:prstGeom>
        </p:spPr>
      </p:pic>
      <p:sp>
        <p:nvSpPr>
          <p:cNvPr id="3" name="Title 1"/>
          <p:cNvSpPr txBox="1">
            <a:spLocks/>
          </p:cNvSpPr>
          <p:nvPr/>
        </p:nvSpPr>
        <p:spPr>
          <a:xfrm>
            <a:off x="7366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smtClean="0"/>
              <a:t>Box Plots on students score of 4 groups</a:t>
            </a:r>
            <a:endParaRPr lang="en-US" dirty="0"/>
          </a:p>
        </p:txBody>
      </p:sp>
    </p:spTree>
    <p:extLst>
      <p:ext uri="{BB962C8B-B14F-4D97-AF65-F5344CB8AC3E}">
        <p14:creationId xmlns:p14="http://schemas.microsoft.com/office/powerpoint/2010/main" val="213514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1676401"/>
            <a:ext cx="10515600" cy="3251199"/>
          </a:xfrm>
        </p:spPr>
        <p:txBody>
          <a:bodyPr>
            <a:noAutofit/>
          </a:bodyPr>
          <a:lstStyle/>
          <a:p>
            <a:r>
              <a:rPr lang="en-US" sz="1800" b="1" dirty="0"/>
              <a:t>The box plot is comparatively short </a:t>
            </a:r>
            <a:r>
              <a:rPr lang="en-US" sz="1800" dirty="0"/>
              <a:t>– see example (2). This suggests that </a:t>
            </a:r>
            <a:r>
              <a:rPr lang="en-US" sz="1800" dirty="0" smtClean="0"/>
              <a:t>observations in group 2 have very </a:t>
            </a:r>
            <a:r>
              <a:rPr lang="en-US" sz="1800" smtClean="0"/>
              <a:t>low variance.</a:t>
            </a:r>
            <a:br>
              <a:rPr lang="en-US" sz="1800" smtClean="0"/>
            </a:br>
            <a:r>
              <a:rPr lang="en-US" sz="1800" dirty="0"/>
              <a:t/>
            </a:r>
            <a:br>
              <a:rPr lang="en-US" sz="1800" dirty="0"/>
            </a:br>
            <a:r>
              <a:rPr lang="en-US" sz="1800" b="1" dirty="0"/>
              <a:t>One box plot is much higher or lower than another </a:t>
            </a:r>
            <a:r>
              <a:rPr lang="en-US" sz="1800" dirty="0"/>
              <a:t>– compare (3) and (4) – This could suggest a difference between groups. </a:t>
            </a:r>
            <a:r>
              <a:rPr lang="en-US" sz="1800" dirty="0" smtClean="0"/>
              <a:t/>
            </a:r>
            <a:br>
              <a:rPr lang="en-US" sz="1800" dirty="0" smtClean="0"/>
            </a:br>
            <a:r>
              <a:rPr lang="en-US" sz="1800" dirty="0"/>
              <a:t/>
            </a:r>
            <a:br>
              <a:rPr lang="en-US" sz="1800" dirty="0"/>
            </a:br>
            <a:r>
              <a:rPr lang="en-US" sz="1800" b="1" dirty="0"/>
              <a:t>Same median, different distribution</a:t>
            </a:r>
            <a:r>
              <a:rPr lang="en-US" sz="1800" dirty="0"/>
              <a:t> – See examples (1), (2), and (3). The medians (which generally will be close to the average) are all at the same level. However the box plots in these examples show very different distributions of views.</a:t>
            </a:r>
            <a:br>
              <a:rPr lang="en-US" sz="1800" dirty="0"/>
            </a:br>
            <a:r>
              <a:rPr lang="en-US" sz="1800" dirty="0"/>
              <a:t>It always important to consider the pattern of the whole distribution of responses in a box plot. </a:t>
            </a:r>
          </a:p>
        </p:txBody>
      </p:sp>
      <p:sp>
        <p:nvSpPr>
          <p:cNvPr id="4" name="Title 1"/>
          <p:cNvSpPr txBox="1">
            <a:spLocks/>
          </p:cNvSpPr>
          <p:nvPr/>
        </p:nvSpPr>
        <p:spPr>
          <a:xfrm>
            <a:off x="7366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smtClean="0"/>
              <a:t>Interpreting Box Plots</a:t>
            </a:r>
            <a:endParaRPr lang="en-US" dirty="0"/>
          </a:p>
        </p:txBody>
      </p:sp>
    </p:spTree>
    <p:extLst>
      <p:ext uri="{BB962C8B-B14F-4D97-AF65-F5344CB8AC3E}">
        <p14:creationId xmlns:p14="http://schemas.microsoft.com/office/powerpoint/2010/main" val="2903341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26</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Poppins</vt:lpstr>
      <vt:lpstr>Office Theme</vt:lpstr>
      <vt:lpstr>PowerPoint Presentation</vt:lpstr>
      <vt:lpstr>Understanding Box Plots</vt:lpstr>
      <vt:lpstr>PowerPoint Presentation</vt:lpstr>
      <vt:lpstr>The box plot is comparatively short – see example (2). This suggests that observations in group 2 have very low variance.  One box plot is much higher or lower than another – compare (3) and (4) – This could suggest a difference between groups.   Same median, different distribution – See examples (1), (2), and (3). The medians (which generally will be close to the average) are all at the same level. However the box plots in these examples show very different distributions of views. It always important to consider the pattern of the whole distribution of responses in a box plot.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Saurav Vats</dc:creator>
  <cp:lastModifiedBy>Saurav Vats</cp:lastModifiedBy>
  <cp:revision>5</cp:revision>
  <dcterms:created xsi:type="dcterms:W3CDTF">2018-07-08T01:43:10Z</dcterms:created>
  <dcterms:modified xsi:type="dcterms:W3CDTF">2018-08-04T17:58:22Z</dcterms:modified>
</cp:coreProperties>
</file>