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EE0F-C4EE-4B73-AA2E-4AA965C747BE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EF8E-1A96-4EB8-9D90-0DB25DF08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5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EE0F-C4EE-4B73-AA2E-4AA965C747BE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EF8E-1A96-4EB8-9D90-0DB25DF08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48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EE0F-C4EE-4B73-AA2E-4AA965C747BE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EF8E-1A96-4EB8-9D90-0DB25DF08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0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EE0F-C4EE-4B73-AA2E-4AA965C747BE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EF8E-1A96-4EB8-9D90-0DB25DF08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80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EE0F-C4EE-4B73-AA2E-4AA965C747BE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EF8E-1A96-4EB8-9D90-0DB25DF08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33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EE0F-C4EE-4B73-AA2E-4AA965C747BE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EF8E-1A96-4EB8-9D90-0DB25DF08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29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EE0F-C4EE-4B73-AA2E-4AA965C747BE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EF8E-1A96-4EB8-9D90-0DB25DF08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7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EE0F-C4EE-4B73-AA2E-4AA965C747BE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EF8E-1A96-4EB8-9D90-0DB25DF08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4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EE0F-C4EE-4B73-AA2E-4AA965C747BE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EF8E-1A96-4EB8-9D90-0DB25DF08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4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EE0F-C4EE-4B73-AA2E-4AA965C747BE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EF8E-1A96-4EB8-9D90-0DB25DF08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EE0F-C4EE-4B73-AA2E-4AA965C747BE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EF8E-1A96-4EB8-9D90-0DB25DF08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6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AEE0F-C4EE-4B73-AA2E-4AA965C747BE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1EF8E-1A96-4EB8-9D90-0DB25DF08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9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1891" y="19050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76200">
            <a:solidFill>
              <a:srgbClr val="0A1F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/>
          <p:cNvSpPr txBox="1"/>
          <p:nvPr/>
        </p:nvSpPr>
        <p:spPr>
          <a:xfrm>
            <a:off x="1587753" y="2726258"/>
            <a:ext cx="2091055" cy="512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003399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Arial"/>
                <a:cs typeface="Arial"/>
              </a:rPr>
              <a:t>Apply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lang="en-US" sz="1600" b="1" spc="-5" dirty="0" smtClean="0">
                <a:latin typeface="Arial"/>
                <a:cs typeface="Arial"/>
              </a:rPr>
              <a:t>Family</a:t>
            </a:r>
            <a:endParaRPr sz="1600" b="1" dirty="0">
              <a:latin typeface="Arial"/>
              <a:cs typeface="Arial"/>
            </a:endParaRPr>
          </a:p>
        </p:txBody>
      </p:sp>
      <p:sp>
        <p:nvSpPr>
          <p:cNvPr id="4" name="object 5"/>
          <p:cNvSpPr txBox="1">
            <a:spLocks/>
          </p:cNvSpPr>
          <p:nvPr/>
        </p:nvSpPr>
        <p:spPr>
          <a:xfrm>
            <a:off x="1587753" y="1672909"/>
            <a:ext cx="302288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 smtClean="0"/>
              <a:t>Agen</a:t>
            </a:r>
            <a:r>
              <a:rPr lang="en-US" dirty="0" smtClean="0"/>
              <a:t>d</a:t>
            </a:r>
            <a:r>
              <a:rPr lang="en-US" spc="-5" dirty="0" smtClean="0"/>
              <a:t>a</a:t>
            </a:r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2358020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>
            <a:spLocks/>
          </p:cNvSpPr>
          <p:nvPr/>
        </p:nvSpPr>
        <p:spPr>
          <a:xfrm>
            <a:off x="444499" y="863853"/>
            <a:ext cx="1007753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 smtClean="0"/>
              <a:t>What is</a:t>
            </a:r>
            <a:r>
              <a:rPr lang="en-US" spc="-65" dirty="0" smtClean="0"/>
              <a:t> </a:t>
            </a:r>
            <a:r>
              <a:rPr lang="en-US" spc="-5" dirty="0" smtClean="0"/>
              <a:t>apply?</a:t>
            </a:r>
            <a:endParaRPr lang="en-US" spc="-5" dirty="0"/>
          </a:p>
        </p:txBody>
      </p:sp>
      <p:sp>
        <p:nvSpPr>
          <p:cNvPr id="3" name="object 4"/>
          <p:cNvSpPr txBox="1"/>
          <p:nvPr/>
        </p:nvSpPr>
        <p:spPr>
          <a:xfrm>
            <a:off x="633476" y="1852041"/>
            <a:ext cx="8766810" cy="29796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3399"/>
                </a:solidFill>
                <a:latin typeface="Webdings"/>
                <a:cs typeface="Webdings"/>
              </a:rPr>
              <a:t></a:t>
            </a:r>
            <a:r>
              <a:rPr sz="1600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Arial"/>
                <a:cs typeface="Arial"/>
              </a:rPr>
              <a:t>The apply function enables us to “apply a function over </a:t>
            </a:r>
            <a:r>
              <a:rPr sz="1600" spc="-10" dirty="0">
                <a:latin typeface="Arial"/>
                <a:cs typeface="Arial"/>
              </a:rPr>
              <a:t>array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5" dirty="0" smtClean="0">
                <a:latin typeface="Arial"/>
                <a:cs typeface="Arial"/>
              </a:rPr>
              <a:t>margins</a:t>
            </a:r>
            <a:r>
              <a:rPr lang="en-US" sz="1600" spc="-5" dirty="0" smtClean="0">
                <a:latin typeface="Arial"/>
                <a:cs typeface="Arial"/>
              </a:rPr>
              <a:t>(row/column)</a:t>
            </a:r>
            <a:r>
              <a:rPr sz="1600" spc="-5" dirty="0" smtClean="0">
                <a:latin typeface="Arial"/>
                <a:cs typeface="Arial"/>
              </a:rPr>
              <a:t>”.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003399"/>
                </a:solidFill>
                <a:latin typeface="Webdings"/>
                <a:cs typeface="Webdings"/>
              </a:rPr>
              <a:t></a:t>
            </a:r>
            <a:r>
              <a:rPr sz="1600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Arial"/>
                <a:cs typeface="Arial"/>
              </a:rPr>
              <a:t>What this</a:t>
            </a:r>
            <a:r>
              <a:rPr sz="1600" spc="-1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means:</a:t>
            </a:r>
            <a:endParaRPr sz="1600" dirty="0">
              <a:latin typeface="Arial"/>
              <a:cs typeface="Arial"/>
            </a:endParaRPr>
          </a:p>
          <a:p>
            <a:pPr marL="469900" indent="-220979">
              <a:lnSpc>
                <a:spcPct val="100000"/>
              </a:lnSpc>
              <a:spcBef>
                <a:spcPts val="505"/>
              </a:spcBef>
              <a:buClr>
                <a:srgbClr val="003399"/>
              </a:buClr>
              <a:buChar char="–"/>
              <a:tabLst>
                <a:tab pos="469900" algn="l"/>
              </a:tabLst>
            </a:pPr>
            <a:r>
              <a:rPr sz="1400" spc="10" dirty="0">
                <a:latin typeface="Arial"/>
                <a:cs typeface="Arial"/>
              </a:rPr>
              <a:t>We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have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object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X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(array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 smtClean="0">
                <a:latin typeface="Arial"/>
                <a:cs typeface="Arial"/>
              </a:rPr>
              <a:t>matrix)</a:t>
            </a:r>
            <a:endParaRPr sz="1400" dirty="0">
              <a:latin typeface="Arial"/>
              <a:cs typeface="Arial"/>
            </a:endParaRPr>
          </a:p>
          <a:p>
            <a:pPr marL="469900" marR="151130" indent="-220979">
              <a:lnSpc>
                <a:spcPts val="1510"/>
              </a:lnSpc>
              <a:spcBef>
                <a:spcPts val="695"/>
              </a:spcBef>
              <a:buClr>
                <a:srgbClr val="003399"/>
              </a:buClr>
              <a:buChar char="–"/>
              <a:tabLst>
                <a:tab pos="469900" algn="l"/>
              </a:tabLst>
            </a:pPr>
            <a:r>
              <a:rPr sz="1400" spc="10" dirty="0">
                <a:latin typeface="Arial"/>
                <a:cs typeface="Arial"/>
              </a:rPr>
              <a:t>We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want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 apply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 certain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function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FUN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over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elements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object.</a:t>
            </a:r>
            <a:r>
              <a:rPr sz="1400" spc="-40" dirty="0">
                <a:latin typeface="Arial"/>
                <a:cs typeface="Arial"/>
              </a:rPr>
              <a:t> </a:t>
            </a:r>
            <a:endParaRPr lang="en-US" sz="1400" spc="-40" dirty="0" smtClean="0">
              <a:latin typeface="Arial"/>
              <a:cs typeface="Arial"/>
            </a:endParaRPr>
          </a:p>
          <a:p>
            <a:pPr marL="469900" marR="151130" indent="-220979">
              <a:lnSpc>
                <a:spcPts val="1510"/>
              </a:lnSpc>
              <a:spcBef>
                <a:spcPts val="695"/>
              </a:spcBef>
              <a:buClr>
                <a:srgbClr val="003399"/>
              </a:buClr>
              <a:buChar char="–"/>
              <a:tabLst>
                <a:tab pos="469900" algn="l"/>
              </a:tabLst>
            </a:pPr>
            <a:r>
              <a:rPr sz="1400" spc="-5" dirty="0" smtClean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elements here may be </a:t>
            </a:r>
            <a:r>
              <a:rPr sz="1400" spc="-5" dirty="0">
                <a:latin typeface="Arial"/>
                <a:cs typeface="Arial"/>
              </a:rPr>
              <a:t>rows, </a:t>
            </a:r>
            <a:r>
              <a:rPr sz="1400" dirty="0">
                <a:latin typeface="Arial"/>
                <a:cs typeface="Arial"/>
              </a:rPr>
              <a:t>columns or each data point in that object. In order to specify </a:t>
            </a:r>
            <a:r>
              <a:rPr sz="1400" spc="-5" dirty="0">
                <a:latin typeface="Arial"/>
                <a:cs typeface="Arial"/>
              </a:rPr>
              <a:t>which  </a:t>
            </a:r>
            <a:r>
              <a:rPr sz="1400" dirty="0">
                <a:latin typeface="Arial"/>
                <a:cs typeface="Arial"/>
              </a:rPr>
              <a:t>margin to be used, </a:t>
            </a:r>
            <a:r>
              <a:rPr sz="1400" spc="-10" dirty="0">
                <a:latin typeface="Arial"/>
                <a:cs typeface="Arial"/>
              </a:rPr>
              <a:t>we </a:t>
            </a:r>
            <a:r>
              <a:rPr sz="1400" dirty="0">
                <a:latin typeface="Arial"/>
                <a:cs typeface="Arial"/>
              </a:rPr>
              <a:t>specify the </a:t>
            </a:r>
            <a:r>
              <a:rPr sz="1400" b="1" spc="-5" dirty="0">
                <a:latin typeface="Arial"/>
                <a:cs typeface="Arial"/>
              </a:rPr>
              <a:t>MARGIN </a:t>
            </a:r>
            <a:r>
              <a:rPr sz="1400" spc="-5" dirty="0">
                <a:latin typeface="Arial"/>
                <a:cs typeface="Arial"/>
              </a:rPr>
              <a:t>parameter </a:t>
            </a:r>
            <a:r>
              <a:rPr sz="1400" dirty="0">
                <a:latin typeface="Arial"/>
                <a:cs typeface="Arial"/>
              </a:rPr>
              <a:t>as </a:t>
            </a:r>
            <a:r>
              <a:rPr sz="1400" b="1" dirty="0">
                <a:latin typeface="Arial"/>
                <a:cs typeface="Arial"/>
              </a:rPr>
              <a:t>1 </a:t>
            </a:r>
            <a:r>
              <a:rPr sz="1400" spc="-5" dirty="0">
                <a:latin typeface="Arial"/>
                <a:cs typeface="Arial"/>
              </a:rPr>
              <a:t>(row), </a:t>
            </a:r>
            <a:r>
              <a:rPr sz="1400" b="1" dirty="0">
                <a:latin typeface="Arial"/>
                <a:cs typeface="Arial"/>
              </a:rPr>
              <a:t>2 </a:t>
            </a:r>
            <a:r>
              <a:rPr sz="1400" dirty="0">
                <a:latin typeface="Arial"/>
                <a:cs typeface="Arial"/>
              </a:rPr>
              <a:t>(column), or </a:t>
            </a:r>
            <a:r>
              <a:rPr sz="1400" b="1" dirty="0">
                <a:latin typeface="Arial"/>
                <a:cs typeface="Arial"/>
              </a:rPr>
              <a:t>c(1, 2) </a:t>
            </a:r>
            <a:r>
              <a:rPr sz="1400" dirty="0">
                <a:latin typeface="Arial"/>
                <a:cs typeface="Arial"/>
              </a:rPr>
              <a:t>(each data</a:t>
            </a:r>
            <a:r>
              <a:rPr sz="1400" spc="-2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point).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003399"/>
                </a:solidFill>
                <a:latin typeface="Webdings"/>
                <a:cs typeface="Webdings"/>
              </a:rPr>
              <a:t></a:t>
            </a:r>
            <a:r>
              <a:rPr sz="1600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Arial"/>
                <a:cs typeface="Arial"/>
              </a:rPr>
              <a:t>These functions allow crossing the data in a number of ways and avoid explicit use of loops constructs.</a:t>
            </a:r>
            <a:endParaRPr lang="en-US" sz="1600" spc="-5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4900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6700"/>
          </a:xfrm>
        </p:spPr>
        <p:txBody>
          <a:bodyPr>
            <a:normAutofit/>
          </a:bodyPr>
          <a:lstStyle/>
          <a:p>
            <a:r>
              <a:rPr lang="en-US" sz="2000" b="1" dirty="0" err="1" smtClean="0"/>
              <a:t>lapply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0007"/>
            <a:ext cx="10515600" cy="840302"/>
          </a:xfrm>
        </p:spPr>
        <p:txBody>
          <a:bodyPr>
            <a:normAutofit/>
          </a:bodyPr>
          <a:lstStyle/>
          <a:p>
            <a:r>
              <a:rPr lang="en-US" sz="1500" dirty="0" err="1" smtClean="0"/>
              <a:t>Lapply</a:t>
            </a:r>
            <a:r>
              <a:rPr lang="en-US" sz="1500" dirty="0" smtClean="0"/>
              <a:t> returns a list of the same elements as </a:t>
            </a:r>
            <a:r>
              <a:rPr lang="en-US" sz="1500" b="1" dirty="0" smtClean="0"/>
              <a:t>X</a:t>
            </a:r>
            <a:r>
              <a:rPr lang="en-US" sz="1500" dirty="0" smtClean="0"/>
              <a:t>, each element of which is the result of applying </a:t>
            </a:r>
            <a:r>
              <a:rPr lang="en-US" sz="1500" b="1" dirty="0" smtClean="0"/>
              <a:t>FUN</a:t>
            </a:r>
            <a:r>
              <a:rPr lang="en-US" sz="1500" dirty="0" smtClean="0"/>
              <a:t> to the corresponding element of </a:t>
            </a:r>
            <a:r>
              <a:rPr lang="en-US" sz="1500" b="1" dirty="0" smtClean="0"/>
              <a:t>X</a:t>
            </a:r>
            <a:r>
              <a:rPr lang="en-US" sz="1500" dirty="0" smtClean="0"/>
              <a:t> </a:t>
            </a:r>
            <a:endParaRPr lang="en-US" sz="15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1458490"/>
            <a:ext cx="10515600" cy="716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err="1"/>
              <a:t>s</a:t>
            </a:r>
            <a:r>
              <a:rPr lang="en-US" sz="2000" b="1" dirty="0" err="1" smtClean="0"/>
              <a:t>apply</a:t>
            </a:r>
            <a:endParaRPr lang="en-US" sz="20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951064"/>
            <a:ext cx="10515600" cy="840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 err="1" smtClean="0"/>
              <a:t>Sapply</a:t>
            </a:r>
            <a:r>
              <a:rPr lang="en-US" sz="1500" dirty="0" smtClean="0"/>
              <a:t> is a user friendly </a:t>
            </a:r>
            <a:r>
              <a:rPr lang="en-US" sz="1500" dirty="0" smtClean="0"/>
              <a:t>version </a:t>
            </a:r>
            <a:r>
              <a:rPr lang="en-US" sz="1500" dirty="0" smtClean="0"/>
              <a:t>of </a:t>
            </a:r>
            <a:r>
              <a:rPr lang="en-US" sz="1500" dirty="0" err="1" smtClean="0"/>
              <a:t>lapply</a:t>
            </a:r>
            <a:r>
              <a:rPr lang="en-US" sz="1500" dirty="0" smtClean="0"/>
              <a:t> by default returning a vector, matrix or any array if appropriate </a:t>
            </a:r>
            <a:endParaRPr lang="en-US" sz="15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38200" y="2242761"/>
            <a:ext cx="10515600" cy="716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err="1"/>
              <a:t>v</a:t>
            </a:r>
            <a:r>
              <a:rPr lang="en-US" sz="2000" b="1" dirty="0" err="1" smtClean="0"/>
              <a:t>apply</a:t>
            </a:r>
            <a:endParaRPr lang="en-US" sz="2000" b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2735335"/>
            <a:ext cx="10515600" cy="840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 smtClean="0"/>
              <a:t>similar </a:t>
            </a:r>
            <a:r>
              <a:rPr lang="en-US" sz="1500" dirty="0"/>
              <a:t>to </a:t>
            </a:r>
            <a:r>
              <a:rPr lang="en-US" sz="1500" dirty="0" err="1"/>
              <a:t>sapply</a:t>
            </a:r>
            <a:r>
              <a:rPr lang="en-US" sz="1500" dirty="0"/>
              <a:t>, but has a </a:t>
            </a:r>
            <a:r>
              <a:rPr lang="en-US" sz="1500" dirty="0" err="1"/>
              <a:t>prespecified</a:t>
            </a:r>
            <a:r>
              <a:rPr lang="en-US" sz="1500" dirty="0"/>
              <a:t> type of return value, so it is can be safer and </a:t>
            </a:r>
            <a:r>
              <a:rPr lang="en-US" sz="1500" dirty="0" smtClean="0"/>
              <a:t>faster. It returns the vector or array of type matching the </a:t>
            </a:r>
            <a:r>
              <a:rPr lang="en-US" sz="1500" dirty="0" err="1" smtClean="0"/>
              <a:t>FUN.VALUE.Basically</a:t>
            </a:r>
            <a:r>
              <a:rPr lang="en-US" sz="1500" dirty="0" smtClean="0"/>
              <a:t>, we are giving R an example of what sort of thing the function will return, which save processing  time for R </a:t>
            </a:r>
            <a:endParaRPr lang="en-US" sz="1500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838200" y="3485313"/>
            <a:ext cx="10515600" cy="716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/>
              <a:t>apply</a:t>
            </a:r>
            <a:endParaRPr lang="en-US" sz="2000" b="1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38200" y="3977886"/>
            <a:ext cx="10515600" cy="1199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apply(</a:t>
            </a:r>
            <a:r>
              <a:rPr lang="en-US" sz="1500" dirty="0" err="1"/>
              <a:t>x,margin,FUN</a:t>
            </a:r>
            <a:r>
              <a:rPr lang="en-US" sz="1500" dirty="0" smtClean="0"/>
              <a:t>,...)</a:t>
            </a:r>
          </a:p>
          <a:p>
            <a:r>
              <a:rPr lang="en-US" sz="1500" dirty="0"/>
              <a:t>MARGIN is a variable defining how the function is applied: when MARGIN=1, it applies over rows, whereas with MARGIN=2, it works over </a:t>
            </a:r>
            <a:r>
              <a:rPr lang="en-US" sz="1500" dirty="0" smtClean="0"/>
              <a:t>columns</a:t>
            </a:r>
          </a:p>
          <a:p>
            <a:r>
              <a:rPr lang="en-US" sz="1500" dirty="0"/>
              <a:t>FUN is the function we want to apply and can be any R function, including a User Defined Function</a:t>
            </a:r>
          </a:p>
        </p:txBody>
      </p:sp>
    </p:spTree>
    <p:extLst>
      <p:ext uri="{BB962C8B-B14F-4D97-AF65-F5344CB8AC3E}">
        <p14:creationId xmlns:p14="http://schemas.microsoft.com/office/powerpoint/2010/main" val="3507185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280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Webdings</vt:lpstr>
      <vt:lpstr>Office Theme</vt:lpstr>
      <vt:lpstr>PowerPoint Presentation</vt:lpstr>
      <vt:lpstr>PowerPoint Presentation</vt:lpstr>
      <vt:lpstr>lapply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Saurav Vats</dc:creator>
  <cp:lastModifiedBy>Saurav Vats</cp:lastModifiedBy>
  <cp:revision>17</cp:revision>
  <dcterms:created xsi:type="dcterms:W3CDTF">2018-05-19T04:41:38Z</dcterms:created>
  <dcterms:modified xsi:type="dcterms:W3CDTF">2018-08-02T18:24:22Z</dcterms:modified>
</cp:coreProperties>
</file>