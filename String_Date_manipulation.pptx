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27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75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45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4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5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45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3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6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25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12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83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62029-4D84-41B7-81F5-7A2A30D2D7FF}" type="datetimeFigureOut">
              <a:rPr lang="en-US" smtClean="0"/>
              <a:t>7/7/2018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C8913-CEC7-4AC0-89DA-E9D316143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5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633476" y="657784"/>
            <a:ext cx="595630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smtClean="0"/>
              <a:t>Creating</a:t>
            </a:r>
            <a:r>
              <a:rPr lang="en-US" spc="-25" dirty="0" smtClean="0"/>
              <a:t> </a:t>
            </a:r>
            <a:r>
              <a:rPr lang="en-US" spc="-5" dirty="0" smtClean="0"/>
              <a:t>Strings</a:t>
            </a:r>
            <a:endParaRPr lang="en-US" spc="-5" dirty="0"/>
          </a:p>
        </p:txBody>
      </p:sp>
      <p:sp>
        <p:nvSpPr>
          <p:cNvPr id="3" name="object 4"/>
          <p:cNvSpPr txBox="1"/>
          <p:nvPr/>
        </p:nvSpPr>
        <p:spPr>
          <a:xfrm>
            <a:off x="633476" y="1364361"/>
            <a:ext cx="8321040" cy="13304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Arial"/>
                <a:cs typeface="Arial"/>
              </a:rPr>
              <a:t>character() </a:t>
            </a:r>
            <a:r>
              <a:rPr sz="1600" spc="-5" dirty="0">
                <a:latin typeface="Arial"/>
                <a:cs typeface="Arial"/>
              </a:rPr>
              <a:t>is the function that creates vector objects of </a:t>
            </a:r>
            <a:r>
              <a:rPr sz="1600" spc="-10" dirty="0">
                <a:latin typeface="Arial"/>
                <a:cs typeface="Arial"/>
              </a:rPr>
              <a:t>type </a:t>
            </a:r>
            <a:r>
              <a:rPr sz="1600" spc="-5" dirty="0">
                <a:latin typeface="Arial"/>
                <a:cs typeface="Arial"/>
              </a:rPr>
              <a:t>"character". </a:t>
            </a:r>
            <a:endParaRPr lang="en-US" sz="1600" spc="-5" dirty="0" smtClean="0">
              <a:latin typeface="Arial"/>
              <a:cs typeface="Arial"/>
            </a:endParaRPr>
          </a:p>
          <a:p>
            <a:pPr marL="247015" marR="5080" indent="-234950">
              <a:lnSpc>
                <a:spcPct val="100000"/>
              </a:lnSpc>
              <a:spcBef>
                <a:spcPts val="9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We can create following </a:t>
            </a:r>
            <a:r>
              <a:rPr sz="1600" spc="-10" dirty="0">
                <a:latin typeface="Arial"/>
                <a:cs typeface="Arial"/>
              </a:rPr>
              <a:t>type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-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strings</a:t>
            </a:r>
            <a:endParaRPr sz="1600" dirty="0">
              <a:latin typeface="Arial"/>
              <a:cs typeface="Arial"/>
            </a:endParaRPr>
          </a:p>
          <a:p>
            <a:pPr marL="469900" marR="4575175" indent="-220979">
              <a:lnSpc>
                <a:spcPct val="100000"/>
              </a:lnSpc>
              <a:spcBef>
                <a:spcPts val="500"/>
              </a:spcBef>
              <a:buClr>
                <a:srgbClr val="003399"/>
              </a:buClr>
              <a:buChar char="–"/>
              <a:tabLst>
                <a:tab pos="469900" algn="l"/>
              </a:tabLst>
            </a:pPr>
            <a:r>
              <a:rPr sz="1400" spc="-5" dirty="0">
                <a:latin typeface="Arial"/>
                <a:cs typeface="Arial"/>
              </a:rPr>
              <a:t>‘a </a:t>
            </a:r>
            <a:r>
              <a:rPr sz="1400" dirty="0">
                <a:latin typeface="Arial"/>
                <a:cs typeface="Arial"/>
              </a:rPr>
              <a:t>character string using single</a:t>
            </a:r>
            <a:r>
              <a:rPr sz="1400" spc="-170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quotes’</a:t>
            </a:r>
            <a:endParaRPr sz="1400" dirty="0">
              <a:latin typeface="Arial"/>
              <a:cs typeface="Arial"/>
            </a:endParaRPr>
          </a:p>
          <a:p>
            <a:pPr marL="469900" marR="4462145" indent="-220979">
              <a:lnSpc>
                <a:spcPct val="100000"/>
              </a:lnSpc>
              <a:spcBef>
                <a:spcPts val="509"/>
              </a:spcBef>
              <a:buClr>
                <a:srgbClr val="003399"/>
              </a:buClr>
              <a:buChar char="–"/>
              <a:tabLst>
                <a:tab pos="469900" algn="l"/>
              </a:tabLst>
            </a:pPr>
            <a:r>
              <a:rPr sz="1400" dirty="0">
                <a:latin typeface="Arial"/>
                <a:cs typeface="Arial"/>
              </a:rPr>
              <a:t>"a </a:t>
            </a:r>
            <a:r>
              <a:rPr sz="1400" spc="-5" dirty="0">
                <a:latin typeface="Arial"/>
                <a:cs typeface="Arial"/>
              </a:rPr>
              <a:t>character </a:t>
            </a:r>
            <a:r>
              <a:rPr sz="1400" dirty="0">
                <a:latin typeface="Arial"/>
                <a:cs typeface="Arial"/>
              </a:rPr>
              <a:t>string using double</a:t>
            </a:r>
            <a:r>
              <a:rPr sz="1400" spc="-15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quotes”</a:t>
            </a:r>
          </a:p>
        </p:txBody>
      </p:sp>
      <p:sp>
        <p:nvSpPr>
          <p:cNvPr id="4" name="object 5"/>
          <p:cNvSpPr txBox="1"/>
          <p:nvPr/>
        </p:nvSpPr>
        <p:spPr>
          <a:xfrm>
            <a:off x="633476" y="3626053"/>
            <a:ext cx="8232140" cy="17844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To test if an object is of </a:t>
            </a:r>
            <a:r>
              <a:rPr sz="1600" spc="-10" dirty="0">
                <a:latin typeface="Arial"/>
                <a:cs typeface="Arial"/>
              </a:rPr>
              <a:t>type </a:t>
            </a:r>
            <a:r>
              <a:rPr sz="1600" spc="-5" dirty="0">
                <a:latin typeface="Arial"/>
                <a:cs typeface="Arial"/>
              </a:rPr>
              <a:t>"character" , </a:t>
            </a:r>
            <a:r>
              <a:rPr sz="1600" spc="-10" dirty="0">
                <a:latin typeface="Arial"/>
                <a:cs typeface="Arial"/>
              </a:rPr>
              <a:t>we </a:t>
            </a:r>
            <a:r>
              <a:rPr sz="1600" spc="-5" dirty="0">
                <a:latin typeface="Arial"/>
                <a:cs typeface="Arial"/>
              </a:rPr>
              <a:t>can use the function</a:t>
            </a:r>
            <a:r>
              <a:rPr sz="1600" spc="16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is.character()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Arial"/>
                <a:cs typeface="Arial"/>
              </a:rPr>
              <a:t>To convert non-character objects into character strings , </a:t>
            </a:r>
            <a:r>
              <a:rPr sz="1600" spc="-15" dirty="0">
                <a:latin typeface="Arial"/>
                <a:cs typeface="Arial"/>
              </a:rPr>
              <a:t>we </a:t>
            </a:r>
            <a:r>
              <a:rPr sz="1600" spc="-5" dirty="0">
                <a:latin typeface="Arial"/>
                <a:cs typeface="Arial"/>
              </a:rPr>
              <a:t>can use the</a:t>
            </a:r>
            <a:r>
              <a:rPr sz="1600" spc="1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function</a:t>
            </a:r>
            <a:endParaRPr sz="1600" dirty="0">
              <a:latin typeface="Arial"/>
              <a:cs typeface="Arial"/>
            </a:endParaRPr>
          </a:p>
          <a:p>
            <a:pPr marL="247015">
              <a:lnSpc>
                <a:spcPct val="100000"/>
              </a:lnSpc>
            </a:pPr>
            <a:r>
              <a:rPr sz="1600" b="1" spc="-5" dirty="0">
                <a:latin typeface="Arial"/>
                <a:cs typeface="Arial"/>
              </a:rPr>
              <a:t>as.character()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003399"/>
                </a:solidFill>
                <a:latin typeface="Webdings"/>
                <a:cs typeface="Webdings"/>
              </a:rPr>
              <a:t></a:t>
            </a:r>
            <a:r>
              <a:rPr sz="1600" spc="-5" dirty="0">
                <a:solidFill>
                  <a:srgbClr val="003399"/>
                </a:solidFill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Arial"/>
                <a:cs typeface="Arial"/>
              </a:rPr>
              <a:t>paste() </a:t>
            </a:r>
            <a:r>
              <a:rPr sz="1600" spc="-5" dirty="0">
                <a:latin typeface="Arial"/>
                <a:cs typeface="Arial"/>
              </a:rPr>
              <a:t>is one of the most important functions that </a:t>
            </a:r>
            <a:r>
              <a:rPr sz="1600" spc="-10" dirty="0">
                <a:latin typeface="Arial"/>
                <a:cs typeface="Arial"/>
              </a:rPr>
              <a:t>we </a:t>
            </a:r>
            <a:r>
              <a:rPr sz="1600" spc="-5" dirty="0">
                <a:latin typeface="Arial"/>
                <a:cs typeface="Arial"/>
              </a:rPr>
              <a:t>can use to create and </a:t>
            </a:r>
            <a:r>
              <a:rPr sz="1600" dirty="0">
                <a:latin typeface="Arial"/>
                <a:cs typeface="Arial"/>
              </a:rPr>
              <a:t>build</a:t>
            </a:r>
            <a:r>
              <a:rPr sz="1600" spc="18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strings</a:t>
            </a:r>
            <a:endParaRPr sz="1600" dirty="0">
              <a:latin typeface="Arial"/>
              <a:cs typeface="Arial"/>
            </a:endParaRPr>
          </a:p>
          <a:p>
            <a:pPr marL="248920">
              <a:lnSpc>
                <a:spcPct val="100000"/>
              </a:lnSpc>
              <a:spcBef>
                <a:spcPts val="500"/>
              </a:spcBef>
            </a:pP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1393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633476" y="477488"/>
            <a:ext cx="614948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smtClean="0"/>
              <a:t>Printing</a:t>
            </a:r>
            <a:r>
              <a:rPr lang="en-US" spc="-20" dirty="0" smtClean="0"/>
              <a:t> </a:t>
            </a:r>
            <a:r>
              <a:rPr lang="en-US" spc="-5" dirty="0" smtClean="0"/>
              <a:t>Characters</a:t>
            </a:r>
            <a:endParaRPr lang="en-US" spc="-5" dirty="0"/>
          </a:p>
        </p:txBody>
      </p:sp>
      <p:sp>
        <p:nvSpPr>
          <p:cNvPr id="3" name="object 4"/>
          <p:cNvSpPr txBox="1"/>
          <p:nvPr/>
        </p:nvSpPr>
        <p:spPr>
          <a:xfrm>
            <a:off x="633476" y="1292639"/>
            <a:ext cx="7835900" cy="3449662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660"/>
              </a:spcBef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Printing values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print()</a:t>
            </a:r>
            <a:endParaRPr sz="1600" dirty="0">
              <a:latin typeface="Arial"/>
              <a:cs typeface="Arial"/>
            </a:endParaRPr>
          </a:p>
          <a:p>
            <a:pPr marL="634365" lvl="1" indent="-399415">
              <a:lnSpc>
                <a:spcPct val="100000"/>
              </a:lnSpc>
              <a:spcBef>
                <a:spcPts val="500"/>
              </a:spcBef>
              <a:buClr>
                <a:srgbClr val="003399"/>
              </a:buClr>
              <a:buChar char="–"/>
              <a:tabLst>
                <a:tab pos="634365" algn="l"/>
                <a:tab pos="635000" algn="l"/>
              </a:tabLst>
            </a:pPr>
            <a:r>
              <a:rPr sz="1400" dirty="0">
                <a:latin typeface="Arial"/>
                <a:cs typeface="Arial"/>
              </a:rPr>
              <a:t>print() </a:t>
            </a:r>
            <a:r>
              <a:rPr sz="1400" spc="-5" dirty="0">
                <a:latin typeface="Arial"/>
                <a:cs typeface="Arial"/>
              </a:rPr>
              <a:t>displays text </a:t>
            </a:r>
            <a:r>
              <a:rPr sz="1400" dirty="0">
                <a:latin typeface="Arial"/>
                <a:cs typeface="Arial"/>
              </a:rPr>
              <a:t>in quoted form by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default</a:t>
            </a:r>
          </a:p>
          <a:p>
            <a:pPr marL="634365" lvl="1" indent="-399415">
              <a:lnSpc>
                <a:spcPct val="100000"/>
              </a:lnSpc>
              <a:spcBef>
                <a:spcPts val="505"/>
              </a:spcBef>
              <a:buClr>
                <a:srgbClr val="003399"/>
              </a:buClr>
              <a:buChar char="–"/>
              <a:tabLst>
                <a:tab pos="634365" algn="l"/>
                <a:tab pos="635000" algn="l"/>
              </a:tabLst>
            </a:pPr>
            <a:r>
              <a:rPr sz="1400" dirty="0">
                <a:latin typeface="Arial"/>
                <a:cs typeface="Arial"/>
              </a:rPr>
              <a:t>If </a:t>
            </a:r>
            <a:r>
              <a:rPr sz="1400" spc="-10" dirty="0">
                <a:latin typeface="Arial"/>
                <a:cs typeface="Arial"/>
              </a:rPr>
              <a:t>we </a:t>
            </a:r>
            <a:r>
              <a:rPr sz="1400" spc="-5" dirty="0">
                <a:latin typeface="Arial"/>
                <a:cs typeface="Arial"/>
              </a:rPr>
              <a:t>want </a:t>
            </a:r>
            <a:r>
              <a:rPr sz="1400" dirty="0">
                <a:latin typeface="Arial"/>
                <a:cs typeface="Arial"/>
              </a:rPr>
              <a:t>to print character strings </a:t>
            </a:r>
            <a:r>
              <a:rPr sz="1400" spc="-5" dirty="0">
                <a:latin typeface="Arial"/>
                <a:cs typeface="Arial"/>
              </a:rPr>
              <a:t>with </a:t>
            </a:r>
            <a:r>
              <a:rPr sz="1400" dirty="0">
                <a:latin typeface="Arial"/>
                <a:cs typeface="Arial"/>
              </a:rPr>
              <a:t>no quotes </a:t>
            </a:r>
            <a:r>
              <a:rPr sz="1400" spc="-10" dirty="0">
                <a:latin typeface="Arial"/>
                <a:cs typeface="Arial"/>
              </a:rPr>
              <a:t>we </a:t>
            </a:r>
            <a:r>
              <a:rPr sz="1400" dirty="0">
                <a:latin typeface="Arial"/>
                <a:cs typeface="Arial"/>
              </a:rPr>
              <a:t>can set the argument quote =</a:t>
            </a:r>
            <a:r>
              <a:rPr sz="1400" spc="-26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FALSE</a:t>
            </a: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  <a:buFont typeface="Arial"/>
              <a:buChar char="–"/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Unquoted characters with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noquote()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  <a:buFont typeface="Arial"/>
              <a:buAutoNum type="romanUcPeriod"/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Concatenate and print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4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cat()</a:t>
            </a:r>
            <a:endParaRPr sz="1600" dirty="0">
              <a:latin typeface="Arial"/>
              <a:cs typeface="Arial"/>
            </a:endParaRPr>
          </a:p>
          <a:p>
            <a:pPr marL="634365" lvl="1" indent="-399415">
              <a:lnSpc>
                <a:spcPct val="100000"/>
              </a:lnSpc>
              <a:spcBef>
                <a:spcPts val="505"/>
              </a:spcBef>
              <a:buClr>
                <a:srgbClr val="003399"/>
              </a:buClr>
              <a:buChar char="–"/>
              <a:tabLst>
                <a:tab pos="634365" algn="l"/>
                <a:tab pos="635000" algn="l"/>
              </a:tabLst>
            </a:pPr>
            <a:r>
              <a:rPr sz="1400" dirty="0" smtClean="0">
                <a:latin typeface="Arial"/>
                <a:cs typeface="Arial"/>
              </a:rPr>
              <a:t>By </a:t>
            </a:r>
            <a:r>
              <a:rPr sz="1400" dirty="0">
                <a:latin typeface="Arial"/>
                <a:cs typeface="Arial"/>
              </a:rPr>
              <a:t>default, the strings are </a:t>
            </a:r>
            <a:r>
              <a:rPr sz="1400" spc="-5" dirty="0">
                <a:latin typeface="Arial"/>
                <a:cs typeface="Arial"/>
              </a:rPr>
              <a:t>concatenated with </a:t>
            </a:r>
            <a:r>
              <a:rPr sz="1400" dirty="0">
                <a:latin typeface="Arial"/>
                <a:cs typeface="Arial"/>
              </a:rPr>
              <a:t>a space character as</a:t>
            </a:r>
            <a:r>
              <a:rPr sz="1400" spc="-2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separator</a:t>
            </a: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  <a:buFont typeface="Arial"/>
              <a:buChar char="–"/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5"/>
              </a:spcBef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Encoding strings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25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format()</a:t>
            </a:r>
            <a:endParaRPr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spcBef>
                <a:spcPts val="5"/>
              </a:spcBef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Converting objects to strings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6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toString()</a:t>
            </a:r>
            <a:endParaRPr sz="1600" dirty="0">
              <a:latin typeface="Arial"/>
              <a:cs typeface="Arial"/>
            </a:endParaRPr>
          </a:p>
          <a:p>
            <a:pPr marL="634365" lvl="1" indent="-399415">
              <a:lnSpc>
                <a:spcPct val="100000"/>
              </a:lnSpc>
              <a:spcBef>
                <a:spcPts val="500"/>
              </a:spcBef>
              <a:buClr>
                <a:srgbClr val="003399"/>
              </a:buClr>
              <a:buChar char="–"/>
              <a:tabLst>
                <a:tab pos="634365" algn="l"/>
                <a:tab pos="635000" algn="l"/>
              </a:tabLst>
            </a:pPr>
            <a:r>
              <a:rPr sz="1400" dirty="0">
                <a:latin typeface="Arial"/>
                <a:cs typeface="Arial"/>
              </a:rPr>
              <a:t>toString() </a:t>
            </a:r>
            <a:r>
              <a:rPr sz="1400" spc="-5" dirty="0">
                <a:latin typeface="Arial"/>
                <a:cs typeface="Arial"/>
              </a:rPr>
              <a:t>allows </a:t>
            </a:r>
            <a:r>
              <a:rPr sz="1400" dirty="0">
                <a:latin typeface="Arial"/>
                <a:cs typeface="Arial"/>
              </a:rPr>
              <a:t>us to </a:t>
            </a:r>
            <a:r>
              <a:rPr sz="1400" spc="-5" dirty="0">
                <a:latin typeface="Arial"/>
                <a:cs typeface="Arial"/>
              </a:rPr>
              <a:t>convert </a:t>
            </a:r>
            <a:r>
              <a:rPr sz="1400" dirty="0">
                <a:latin typeface="Arial"/>
                <a:cs typeface="Arial"/>
              </a:rPr>
              <a:t>an R object to a character</a:t>
            </a:r>
            <a:r>
              <a:rPr sz="1400" spc="-229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string.</a:t>
            </a:r>
          </a:p>
        </p:txBody>
      </p:sp>
    </p:spTree>
    <p:extLst>
      <p:ext uri="{BB962C8B-B14F-4D97-AF65-F5344CB8AC3E}">
        <p14:creationId xmlns:p14="http://schemas.microsoft.com/office/powerpoint/2010/main" val="424781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>
            <a:spLocks/>
          </p:cNvSpPr>
          <p:nvPr/>
        </p:nvSpPr>
        <p:spPr>
          <a:xfrm>
            <a:off x="633476" y="503246"/>
            <a:ext cx="979841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smtClean="0"/>
              <a:t>Basic text</a:t>
            </a:r>
            <a:r>
              <a:rPr lang="en-US" dirty="0" smtClean="0"/>
              <a:t> </a:t>
            </a:r>
            <a:r>
              <a:rPr lang="en-US" spc="-5" dirty="0" smtClean="0"/>
              <a:t>manipulations</a:t>
            </a:r>
            <a:endParaRPr lang="en-US" spc="-5" dirty="0"/>
          </a:p>
        </p:txBody>
      </p:sp>
      <p:sp>
        <p:nvSpPr>
          <p:cNvPr id="3" name="object 4"/>
          <p:cNvSpPr txBox="1"/>
          <p:nvPr/>
        </p:nvSpPr>
        <p:spPr>
          <a:xfrm>
            <a:off x="633476" y="1292639"/>
            <a:ext cx="8401050" cy="3662541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660"/>
              </a:spcBef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Count number of characters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85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nchar()</a:t>
            </a:r>
            <a:endParaRPr sz="1600" dirty="0">
              <a:latin typeface="Arial"/>
              <a:cs typeface="Arial"/>
            </a:endParaRPr>
          </a:p>
          <a:p>
            <a:pPr marL="469900" lvl="1" indent="-220979">
              <a:lnSpc>
                <a:spcPct val="100000"/>
              </a:lnSpc>
              <a:spcBef>
                <a:spcPts val="500"/>
              </a:spcBef>
              <a:buClr>
                <a:srgbClr val="003399"/>
              </a:buClr>
              <a:buChar char="–"/>
              <a:tabLst>
                <a:tab pos="469900" algn="l"/>
              </a:tabLst>
            </a:pPr>
            <a:r>
              <a:rPr sz="1400" dirty="0">
                <a:latin typeface="Arial"/>
                <a:cs typeface="Arial"/>
              </a:rPr>
              <a:t>nchar() counts the number of </a:t>
            </a:r>
            <a:r>
              <a:rPr sz="1400" spc="-5" dirty="0">
                <a:latin typeface="Arial"/>
                <a:cs typeface="Arial"/>
              </a:rPr>
              <a:t>characters, while </a:t>
            </a:r>
            <a:r>
              <a:rPr sz="1400" dirty="0">
                <a:latin typeface="Arial"/>
                <a:cs typeface="Arial"/>
              </a:rPr>
              <a:t>length() only </a:t>
            </a:r>
            <a:r>
              <a:rPr sz="1400" spc="-5" dirty="0">
                <a:latin typeface="Arial"/>
                <a:cs typeface="Arial"/>
              </a:rPr>
              <a:t>gives </a:t>
            </a:r>
            <a:r>
              <a:rPr sz="1400" dirty="0">
                <a:latin typeface="Arial"/>
                <a:cs typeface="Arial"/>
              </a:rPr>
              <a:t>the number of elements in a</a:t>
            </a:r>
            <a:r>
              <a:rPr sz="1400" spc="-2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vector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  <a:buFont typeface="Arial"/>
              <a:buChar char="–"/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Convert to </a:t>
            </a:r>
            <a:r>
              <a:rPr sz="1600" spc="-10" dirty="0">
                <a:latin typeface="Arial"/>
                <a:cs typeface="Arial"/>
              </a:rPr>
              <a:t>lower </a:t>
            </a:r>
            <a:r>
              <a:rPr sz="1600" spc="-5" dirty="0">
                <a:latin typeface="Arial"/>
                <a:cs typeface="Arial"/>
              </a:rPr>
              <a:t>case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tolower()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  <a:buFont typeface="Arial"/>
              <a:buAutoNum type="romanUcPeriod"/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Convert to upper case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6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toupper()</a:t>
            </a:r>
            <a:endParaRPr sz="16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003399"/>
              </a:buClr>
            </a:pPr>
            <a:endParaRPr sz="1650" dirty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3384" algn="l"/>
                <a:tab pos="414020" algn="l"/>
              </a:tabLst>
            </a:pPr>
            <a:r>
              <a:rPr sz="1600" spc="-5" dirty="0">
                <a:latin typeface="Arial"/>
                <a:cs typeface="Arial"/>
              </a:rPr>
              <a:t>Character translation </a:t>
            </a:r>
            <a:r>
              <a:rPr sz="1600" spc="-10" dirty="0">
                <a:latin typeface="Arial"/>
                <a:cs typeface="Arial"/>
              </a:rPr>
              <a:t>with</a:t>
            </a:r>
            <a:r>
              <a:rPr sz="1600" spc="40" dirty="0">
                <a:latin typeface="Arial"/>
                <a:cs typeface="Arial"/>
              </a:rPr>
              <a:t> </a:t>
            </a:r>
            <a:r>
              <a:rPr sz="1600" b="1" spc="-5" dirty="0">
                <a:latin typeface="Arial"/>
                <a:cs typeface="Arial"/>
              </a:rPr>
              <a:t>chartr()</a:t>
            </a:r>
            <a:endParaRPr sz="1600" dirty="0">
              <a:latin typeface="Arial"/>
              <a:cs typeface="Arial"/>
            </a:endParaRPr>
          </a:p>
          <a:p>
            <a:pPr marL="634365" lvl="1" indent="-399415">
              <a:lnSpc>
                <a:spcPct val="100000"/>
              </a:lnSpc>
              <a:spcBef>
                <a:spcPts val="500"/>
              </a:spcBef>
              <a:buClr>
                <a:srgbClr val="003399"/>
              </a:buClr>
              <a:buChar char="–"/>
              <a:tabLst>
                <a:tab pos="634365" algn="l"/>
                <a:tab pos="635000" algn="l"/>
              </a:tabLst>
            </a:pPr>
            <a:r>
              <a:rPr sz="1400" dirty="0">
                <a:latin typeface="Arial"/>
                <a:cs typeface="Arial"/>
              </a:rPr>
              <a:t>chartr() </a:t>
            </a:r>
            <a:r>
              <a:rPr sz="1400" spc="-5" dirty="0">
                <a:latin typeface="Arial"/>
                <a:cs typeface="Arial"/>
              </a:rPr>
              <a:t>works </a:t>
            </a:r>
            <a:r>
              <a:rPr sz="1400" dirty="0">
                <a:latin typeface="Arial"/>
                <a:cs typeface="Arial"/>
              </a:rPr>
              <a:t>is by replacing the </a:t>
            </a:r>
            <a:r>
              <a:rPr sz="1400" spc="-5" dirty="0">
                <a:latin typeface="Arial"/>
                <a:cs typeface="Arial"/>
              </a:rPr>
              <a:t>characters </a:t>
            </a:r>
            <a:r>
              <a:rPr sz="1400" dirty="0">
                <a:latin typeface="Arial"/>
                <a:cs typeface="Arial"/>
              </a:rPr>
              <a:t>in old by those indicated in</a:t>
            </a:r>
            <a:r>
              <a:rPr sz="1400" spc="-26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new</a:t>
            </a:r>
            <a:endParaRPr sz="1400" dirty="0">
              <a:latin typeface="Arial"/>
              <a:cs typeface="Arial"/>
            </a:endParaRPr>
          </a:p>
          <a:p>
            <a:pPr marL="634365" lvl="1" indent="-399415">
              <a:lnSpc>
                <a:spcPct val="100000"/>
              </a:lnSpc>
              <a:spcBef>
                <a:spcPts val="505"/>
              </a:spcBef>
              <a:buClr>
                <a:srgbClr val="003399"/>
              </a:buClr>
              <a:buChar char="–"/>
              <a:tabLst>
                <a:tab pos="634365" algn="l"/>
                <a:tab pos="635000" algn="l"/>
              </a:tabLst>
            </a:pPr>
            <a:r>
              <a:rPr sz="1400" dirty="0" smtClean="0">
                <a:latin typeface="Arial"/>
                <a:cs typeface="Arial"/>
              </a:rPr>
              <a:t>It </a:t>
            </a:r>
            <a:r>
              <a:rPr sz="1400" dirty="0">
                <a:latin typeface="Arial"/>
                <a:cs typeface="Arial"/>
              </a:rPr>
              <a:t>can be used for multiple </a:t>
            </a:r>
            <a:r>
              <a:rPr sz="1400" spc="-5" dirty="0">
                <a:latin typeface="Arial"/>
                <a:cs typeface="Arial"/>
              </a:rPr>
              <a:t>replacements </a:t>
            </a:r>
            <a:r>
              <a:rPr sz="1400" dirty="0">
                <a:latin typeface="Arial"/>
                <a:cs typeface="Arial"/>
              </a:rPr>
              <a:t>at</a:t>
            </a:r>
            <a:r>
              <a:rPr sz="1400" spc="-19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once</a:t>
            </a: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003399"/>
              </a:buClr>
            </a:pPr>
            <a:endParaRPr sz="1650" dirty="0" smtClean="0">
              <a:latin typeface="Times New Roman"/>
              <a:cs typeface="Times New Roman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4020" algn="l"/>
              </a:tabLst>
            </a:pPr>
            <a:r>
              <a:rPr sz="1600" b="1" spc="-5" dirty="0" err="1" smtClean="0">
                <a:latin typeface="Arial"/>
                <a:cs typeface="Arial"/>
              </a:rPr>
              <a:t>substr</a:t>
            </a:r>
            <a:r>
              <a:rPr sz="1600" b="1" spc="-5" dirty="0" smtClean="0">
                <a:latin typeface="Arial"/>
                <a:cs typeface="Arial"/>
              </a:rPr>
              <a:t>()</a:t>
            </a:r>
            <a:endParaRPr lang="en-US" sz="1600" b="1" spc="-5" dirty="0" smtClean="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4020" algn="l"/>
              </a:tabLst>
            </a:pPr>
            <a:endParaRPr lang="en-US" sz="1600" b="1" spc="-5" dirty="0">
              <a:latin typeface="Arial"/>
              <a:cs typeface="Arial"/>
            </a:endParaRPr>
          </a:p>
          <a:p>
            <a:pPr marL="413384" indent="-400685">
              <a:lnSpc>
                <a:spcPct val="100000"/>
              </a:lnSpc>
              <a:buClr>
                <a:srgbClr val="003399"/>
              </a:buClr>
              <a:buAutoNum type="romanUcPeriod"/>
              <a:tabLst>
                <a:tab pos="414020" algn="l"/>
              </a:tabLst>
            </a:pPr>
            <a:r>
              <a:rPr lang="en-US" sz="1600" b="1" spc="-5" dirty="0">
                <a:latin typeface="Arial"/>
                <a:cs typeface="Arial"/>
              </a:rPr>
              <a:t>s</a:t>
            </a:r>
            <a:r>
              <a:rPr lang="en-US" sz="1600" b="1" spc="-5" dirty="0" smtClean="0">
                <a:latin typeface="Arial"/>
                <a:cs typeface="Arial"/>
              </a:rPr>
              <a:t>ub() &amp; </a:t>
            </a:r>
            <a:r>
              <a:rPr lang="en-US" sz="1600" b="1" spc="-5" dirty="0" err="1" smtClean="0">
                <a:latin typeface="Arial"/>
                <a:cs typeface="Arial"/>
              </a:rPr>
              <a:t>gsub</a:t>
            </a:r>
            <a:r>
              <a:rPr lang="en-US" sz="1600" b="1" spc="-5" smtClean="0">
                <a:latin typeface="Arial"/>
                <a:cs typeface="Arial"/>
              </a:rPr>
              <a:t>()</a:t>
            </a:r>
            <a:endParaRPr sz="16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63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9412" y="1331890"/>
            <a:ext cx="76698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###------------------------------------------------------------</a:t>
            </a:r>
          </a:p>
          <a:p>
            <a:r>
              <a:rPr lang="en-US" dirty="0" smtClean="0"/>
              <a:t>### Date manipulations in R</a:t>
            </a:r>
          </a:p>
          <a:p>
            <a:r>
              <a:rPr lang="en-US" dirty="0" smtClean="0"/>
              <a:t>### Symbol          Meaning</a:t>
            </a:r>
          </a:p>
          <a:p>
            <a:r>
              <a:rPr lang="en-US" dirty="0" smtClean="0"/>
              <a:t>### %d              Days as number (01-31)</a:t>
            </a:r>
          </a:p>
          <a:p>
            <a:r>
              <a:rPr lang="en-US" dirty="0" smtClean="0"/>
              <a:t>### %a              Weekday - Mon</a:t>
            </a:r>
          </a:p>
          <a:p>
            <a:r>
              <a:rPr lang="en-US" dirty="0" smtClean="0"/>
              <a:t>### %A              Weekday - Monday</a:t>
            </a:r>
          </a:p>
          <a:p>
            <a:r>
              <a:rPr lang="en-US" dirty="0" smtClean="0"/>
              <a:t>### %m              Month as number (01-12)</a:t>
            </a:r>
          </a:p>
          <a:p>
            <a:r>
              <a:rPr lang="en-US" dirty="0" smtClean="0"/>
              <a:t>### %b              Month - Jan</a:t>
            </a:r>
          </a:p>
          <a:p>
            <a:r>
              <a:rPr lang="en-US" dirty="0" smtClean="0"/>
              <a:t>### %B              Month - January</a:t>
            </a:r>
          </a:p>
          <a:p>
            <a:r>
              <a:rPr lang="en-US" dirty="0" smtClean="0"/>
              <a:t>### %y              Year - 2 digit (07)</a:t>
            </a:r>
          </a:p>
          <a:p>
            <a:r>
              <a:rPr lang="en-US" dirty="0" smtClean="0"/>
              <a:t>### %Y              Year - 4 digit (2007</a:t>
            </a:r>
            <a:r>
              <a:rPr lang="en-US" dirty="0" smtClean="0"/>
              <a:t>)</a:t>
            </a:r>
          </a:p>
          <a:p>
            <a:r>
              <a:rPr lang="en-US" dirty="0" smtClean="0"/>
              <a:t>###%X                Time (</a:t>
            </a:r>
            <a:r>
              <a:rPr lang="en-US" dirty="0" err="1" smtClean="0"/>
              <a:t>upto</a:t>
            </a:r>
            <a:r>
              <a:rPr lang="en-US" dirty="0" smtClean="0"/>
              <a:t> seconds with AM/PM)</a:t>
            </a:r>
            <a:endParaRPr lang="en-US" dirty="0"/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379412" y="464609"/>
            <a:ext cx="836534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 smtClean="0"/>
              <a:t>Formats used in date</a:t>
            </a:r>
            <a:r>
              <a:rPr lang="en-US" spc="55" dirty="0" smtClean="0"/>
              <a:t> </a:t>
            </a:r>
            <a:r>
              <a:rPr lang="en-US" spc="-5" dirty="0" smtClean="0"/>
              <a:t>manipulation</a:t>
            </a:r>
            <a:endParaRPr lang="en-US" spc="-5" dirty="0"/>
          </a:p>
        </p:txBody>
      </p:sp>
    </p:spTree>
    <p:extLst>
      <p:ext uri="{BB962C8B-B14F-4D97-AF65-F5344CB8AC3E}">
        <p14:creationId xmlns:p14="http://schemas.microsoft.com/office/powerpoint/2010/main" val="341007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345</Words>
  <Application>Microsoft Office PowerPoint</Application>
  <PresentationFormat>Widescreen</PresentationFormat>
  <Paragraphs>54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Webdings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Saurav Vats</dc:creator>
  <cp:lastModifiedBy>Saurav Vats</cp:lastModifiedBy>
  <cp:revision>11</cp:revision>
  <dcterms:created xsi:type="dcterms:W3CDTF">2018-05-18T19:39:45Z</dcterms:created>
  <dcterms:modified xsi:type="dcterms:W3CDTF">2018-07-07T06:13:04Z</dcterms:modified>
</cp:coreProperties>
</file>